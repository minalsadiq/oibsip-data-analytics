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19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64802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737360"/>
            <a:ext cx="10698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Segmentation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Analysis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2918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BFD8DA"/>
                </a:solidFill>
              </a:rPr>
              <a:t>OASIS INFOBYTE </a:t>
            </a:r>
            <a:r>
              <a:rPr lang="en-US" sz="1700" dirty="0" smtClean="0">
                <a:solidFill>
                  <a:srgbClr val="BFD8DA"/>
                </a:solidFill>
              </a:rPr>
              <a:t>- </a:t>
            </a:r>
            <a:r>
              <a:rPr lang="en-US" sz="1700" dirty="0">
                <a:solidFill>
                  <a:srgbClr val="BFD8DA"/>
                </a:solidFill>
              </a:rPr>
              <a:t>Data Analytics Internship  |  Level 1, Task 2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886200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9FB8BB"/>
                </a:solidFill>
              </a:rPr>
              <a:t>RFM feature engineering + K-Means clustering, validated with silhouette analysis</a:t>
            </a:r>
            <a:endParaRPr lang="en-US" sz="1350" dirty="0"/>
          </a:p>
          <a:p>
            <a:pPr marL="0" indent="0">
              <a:buNone/>
            </a:pPr>
            <a:r>
              <a:rPr lang="en-US" sz="1350" i="1" dirty="0">
                <a:solidFill>
                  <a:srgbClr val="9FB8BB"/>
                </a:solidFill>
              </a:rPr>
              <a:t>and one-way </a:t>
            </a:r>
            <a:r>
              <a:rPr lang="en-US" sz="1350" i="1" dirty="0" smtClean="0">
                <a:solidFill>
                  <a:srgbClr val="9FB8BB"/>
                </a:solidFill>
              </a:rPr>
              <a:t>ANOVA </a:t>
            </a:r>
            <a:r>
              <a:rPr lang="en-US" sz="1350" i="1" dirty="0">
                <a:solidFill>
                  <a:srgbClr val="9FB8BB"/>
                </a:solidFill>
              </a:rPr>
              <a:t>not just a scatter plot with colors.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8BB"/>
                </a:solidFill>
              </a:rPr>
              <a:t>Prepared by: </a:t>
            </a:r>
            <a:r>
              <a:rPr lang="en-US" sz="1200" dirty="0" err="1" smtClean="0">
                <a:solidFill>
                  <a:srgbClr val="9FB8BB"/>
                </a:solidFill>
              </a:rPr>
              <a:t>Minal</a:t>
            </a:r>
            <a:r>
              <a:rPr lang="en-US" sz="1200" dirty="0" smtClean="0">
                <a:solidFill>
                  <a:srgbClr val="9FB8BB"/>
                </a:solidFill>
              </a:rPr>
              <a:t> </a:t>
            </a:r>
            <a:r>
              <a:rPr lang="en-US" sz="1200" dirty="0" err="1" smtClean="0">
                <a:solidFill>
                  <a:srgbClr val="9FB8BB"/>
                </a:solidFill>
              </a:rPr>
              <a:t>Sadiq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3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Objective, Dataset &amp; Approach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10881360" cy="1051560"/>
          </a:xfrm>
          <a:prstGeom prst="roundRect">
            <a:avLst>
              <a:gd name="adj" fmla="val 5217"/>
            </a:avLst>
          </a:prstGeom>
          <a:solidFill>
            <a:srgbClr val="F4F7F7"/>
          </a:solidFill>
          <a:ln w="12700">
            <a:solidFill>
              <a:srgbClr val="E3E9E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645920"/>
            <a:ext cx="2011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6F78"/>
                </a:solidFill>
              </a:rPr>
              <a:t>Objective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2926080" y="1645920"/>
            <a:ext cx="8366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</a:rPr>
              <a:t>Segment an e-commerce customer base by purchasing behaviour so each group can receive a distinct, appropriate marketing strategy instead of one generic campaign.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2761488"/>
            <a:ext cx="10881360" cy="1051560"/>
          </a:xfrm>
          <a:prstGeom prst="roundRect">
            <a:avLst>
              <a:gd name="adj" fmla="val 5217"/>
            </a:avLst>
          </a:prstGeom>
          <a:solidFill>
            <a:srgbClr val="F4F7F7"/>
          </a:solidFill>
          <a:ln w="12700">
            <a:solidFill>
              <a:srgbClr val="E3E9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2852928"/>
            <a:ext cx="2011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6F78"/>
                </a:solidFill>
              </a:rPr>
              <a:t>Dataset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2926080" y="2852928"/>
            <a:ext cx="8366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</a:rPr>
              <a:t>11,000+ raw transactions across 1,000 customers (2023-2024) </a:t>
            </a:r>
            <a:r>
              <a:rPr lang="en-US" sz="1250" dirty="0" smtClean="0">
                <a:solidFill>
                  <a:srgbClr val="222222"/>
                </a:solidFill>
              </a:rPr>
              <a:t>order-level </a:t>
            </a:r>
            <a:r>
              <a:rPr lang="en-US" sz="1250" dirty="0">
                <a:solidFill>
                  <a:srgbClr val="222222"/>
                </a:solidFill>
              </a:rPr>
              <a:t>data with realistic messiness: cancellations, missing payment mode, duplicates.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968496"/>
            <a:ext cx="10881360" cy="1051560"/>
          </a:xfrm>
          <a:prstGeom prst="roundRect">
            <a:avLst>
              <a:gd name="adj" fmla="val 5217"/>
            </a:avLst>
          </a:prstGeom>
          <a:solidFill>
            <a:srgbClr val="F4F7F7"/>
          </a:solidFill>
          <a:ln w="12700">
            <a:solidFill>
              <a:srgbClr val="E3E9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68680" y="4059936"/>
            <a:ext cx="2011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6F78"/>
                </a:solidFill>
              </a:rPr>
              <a:t>Method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926080" y="4059936"/>
            <a:ext cx="8366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</a:rPr>
              <a:t>RFM (Recency, Frequency, Monetary) engineered from raw transactions -&gt; K-Means clustering, with every choice (K, scaling) backed by a statistical check.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5175504"/>
            <a:ext cx="10881360" cy="1051560"/>
          </a:xfrm>
          <a:prstGeom prst="roundRect">
            <a:avLst>
              <a:gd name="adj" fmla="val 5217"/>
            </a:avLst>
          </a:prstGeom>
          <a:solidFill>
            <a:srgbClr val="F4F7F7"/>
          </a:solidFill>
          <a:ln w="12700">
            <a:solidFill>
              <a:srgbClr val="E3E9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" y="5266944"/>
            <a:ext cx="2011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6F78"/>
                </a:solidFill>
              </a:rPr>
              <a:t>Tools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2926080" y="5266944"/>
            <a:ext cx="8366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</a:rPr>
              <a:t>Python - pandas, scipy.stats, scikit-learn (StandardScaler, KMeans, PCA, silhouette), matplotlib, seaborn.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3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1-2 </a:t>
            </a:r>
            <a:r>
              <a:rPr lang="en-US" sz="2500" b="1" dirty="0" smtClean="0">
                <a:solidFill>
                  <a:srgbClr val="1F3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 </a:t>
            </a:r>
            <a:r>
              <a:rPr lang="en-US" sz="2500" b="1" dirty="0">
                <a:solidFill>
                  <a:srgbClr val="1F3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Cleaning &amp; Building RFM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01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</a:rPr>
              <a:t>RFM was engineered from raw transactions inside the notebook, not handed to it pre-made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658368"/>
          </a:xfrm>
          <a:prstGeom prst="rect">
            <a:avLst/>
          </a:prstGeom>
          <a:solidFill>
            <a:srgbClr val="F4F7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6035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</a:rPr>
              <a:t>15 exact duplicate transactions found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949440" y="1737360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</a:rPr>
              <a:t>Removed.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95728"/>
            <a:ext cx="6035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</a:rPr>
              <a:t>166 cancelled/returned orders (1.5%, negative value)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949440" y="2395728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</a:rPr>
              <a:t>Excluded from </a:t>
            </a:r>
            <a:r>
              <a:rPr lang="en-US" sz="1250" dirty="0" smtClean="0">
                <a:solidFill>
                  <a:srgbClr val="222222"/>
                </a:solidFill>
              </a:rPr>
              <a:t>Monetary </a:t>
            </a:r>
            <a:r>
              <a:rPr lang="en-US" sz="1250" dirty="0">
                <a:solidFill>
                  <a:srgbClr val="222222"/>
                </a:solidFill>
              </a:rPr>
              <a:t>a return isn't spend.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054096"/>
            <a:ext cx="10881360" cy="658368"/>
          </a:xfrm>
          <a:prstGeom prst="rect">
            <a:avLst/>
          </a:prstGeom>
          <a:solidFill>
            <a:srgbClr val="F4F7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3054096"/>
            <a:ext cx="6035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</a:rPr>
              <a:t>111 missing Payment_Mode values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949440" y="3054096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</a:rPr>
              <a:t>Kept as explicit "Unknown" category.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712464"/>
            <a:ext cx="6035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</a:rPr>
              <a:t>Recency, Frequency, Monetary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949440" y="3712464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</a:rPr>
              <a:t>Computed per customer relative to a fixed snapshot date (day after the last transaction).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3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3-4 </a:t>
            </a:r>
            <a:r>
              <a:rPr lang="en-US" sz="2500" b="1" dirty="0" smtClean="0">
                <a:solidFill>
                  <a:srgbClr val="1F3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 </a:t>
            </a:r>
            <a:r>
              <a:rPr lang="en-US" sz="2500" b="1" dirty="0">
                <a:solidFill>
                  <a:srgbClr val="1F3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Descriptive Stats &amp; Distribution Check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01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</a:rPr>
              <a:t>Average purchase value, purchase frequency, and lifetime-value view; then tested for normality</a:t>
            </a:r>
            <a:endParaRPr lang="en-US" sz="1300" dirty="0"/>
          </a:p>
        </p:txBody>
      </p:sp>
      <p:pic>
        <p:nvPicPr>
          <p:cNvPr id="4" name="Image 0" descr="/home/claude/work2/outputs/01_rfm_distributions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11064240" cy="30175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46634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</a:rPr>
              <a:t>D'Agostino K² test: Recency p=2.0e-164, Frequency p=7.3e-60, Monetary p=4.2e-117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51663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3261E"/>
                </a:solidFill>
              </a:rPr>
              <a:t>All three metrics: NOT normally distributed (p &lt;&lt; 0.05)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57150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280"/>
                </a:solidFill>
              </a:rPr>
              <a:t>Frequency and Monetary are strongly </a:t>
            </a:r>
            <a:r>
              <a:rPr lang="en-US" sz="1250" i="1" dirty="0" smtClean="0">
                <a:solidFill>
                  <a:srgbClr val="6B7280"/>
                </a:solidFill>
              </a:rPr>
              <a:t>right-skewed </a:t>
            </a:r>
            <a:r>
              <a:rPr lang="en-US" sz="1250" i="1" dirty="0">
                <a:solidFill>
                  <a:srgbClr val="6B7280"/>
                </a:solidFill>
              </a:rPr>
              <a:t>a small group of very active, high-spend customers pulls the mean well above the median.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3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5-6 </a:t>
            </a:r>
            <a:r>
              <a:rPr lang="en-US" sz="2500" b="1" dirty="0" smtClean="0">
                <a:solidFill>
                  <a:srgbClr val="1F3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 </a:t>
            </a:r>
            <a:r>
              <a:rPr lang="en-US" sz="2500" b="1" dirty="0">
                <a:solidFill>
                  <a:srgbClr val="1F3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Log-Transform &amp; Standardization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01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</a:rPr>
              <a:t>Correcting skew, then scaling so no single feature dominates the distance calculation</a:t>
            </a:r>
            <a:endParaRPr lang="en-US" sz="1300" dirty="0"/>
          </a:p>
        </p:txBody>
      </p:sp>
      <p:pic>
        <p:nvPicPr>
          <p:cNvPr id="4" name="Image 0" descr="/home/claude/work2/outputs/02_rfm_log_transform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11064240" cy="32004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484632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</a:rPr>
              <a:t>Why this matters: K-Means clusters on Euclidean distance. Without a log-transform, a handful of extreme high-spend customers would dominate the distance calculation. Without scaling, Monetary (thousands of Rs.) would swamp Recency (tens/hundreds of days) purely due to units.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3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7 </a:t>
            </a:r>
            <a:r>
              <a:rPr lang="en-US" sz="2500" b="1" dirty="0" smtClean="0">
                <a:solidFill>
                  <a:srgbClr val="1F3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 </a:t>
            </a:r>
            <a:r>
              <a:rPr lang="en-US" sz="2500" b="1" dirty="0">
                <a:solidFill>
                  <a:srgbClr val="1F3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Choosing K: Elbow Method + Silhouette Score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01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</a:rPr>
              <a:t>Two independent methods, not a guess</a:t>
            </a:r>
            <a:endParaRPr lang="en-US" sz="1300" dirty="0"/>
          </a:p>
        </p:txBody>
      </p:sp>
      <p:pic>
        <p:nvPicPr>
          <p:cNvPr id="4" name="Image 0" descr="/home/claude/work2/outputs/03_elbow_silhouet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0"/>
            <a:ext cx="11247120" cy="35204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502920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280"/>
                </a:solidFill>
              </a:rPr>
              <a:t>Silhouette is mathematically highest at K=2 (a coarse "engaged vs disengaged" split</a:t>
            </a:r>
            <a:r>
              <a:rPr lang="en-US" sz="1250" i="1" dirty="0" smtClean="0">
                <a:solidFill>
                  <a:srgbClr val="6B7280"/>
                </a:solidFill>
              </a:rPr>
              <a:t>) </a:t>
            </a:r>
            <a:r>
              <a:rPr lang="en-US" sz="1250" i="1" dirty="0">
                <a:solidFill>
                  <a:srgbClr val="6B7280"/>
                </a:solidFill>
              </a:rPr>
              <a:t>but K=5 is chosen: the elbow still bends around K=4-5, K=2 would be too coarse for distinct marketing actions, and Section 10's ANOVA independently confirms 5 groups are statistically real, not overfit noise.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3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8 </a:t>
            </a:r>
            <a:r>
              <a:rPr lang="en-US" sz="2500" b="1" dirty="0" smtClean="0">
                <a:solidFill>
                  <a:srgbClr val="1F3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 </a:t>
            </a:r>
            <a:r>
              <a:rPr lang="en-US" sz="2500" b="1" dirty="0">
                <a:solidFill>
                  <a:srgbClr val="1F3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Final Model: K=5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01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</a:rPr>
              <a:t>Per-sample silhouette plot checks whether points are cleanly assigned, not just the average score</a:t>
            </a:r>
            <a:endParaRPr lang="en-US" sz="1300" dirty="0"/>
          </a:p>
        </p:txBody>
      </p:sp>
      <p:pic>
        <p:nvPicPr>
          <p:cNvPr id="4" name="Image 0" descr="/home/claude/work2/outputs/04_silhouette_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0" y="1371600"/>
            <a:ext cx="7772400" cy="47548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60807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280"/>
                </a:solidFill>
              </a:rPr>
              <a:t>Silhouette score = 0.464. Most points sit comfortably above the average line with few negative </a:t>
            </a:r>
            <a:r>
              <a:rPr lang="en-US" sz="1250" i="1" dirty="0" smtClean="0">
                <a:solidFill>
                  <a:srgbClr val="6B7280"/>
                </a:solidFill>
              </a:rPr>
              <a:t>values </a:t>
            </a:r>
            <a:r>
              <a:rPr lang="en-US" sz="1250" i="1" dirty="0">
                <a:solidFill>
                  <a:srgbClr val="6B7280"/>
                </a:solidFill>
              </a:rPr>
              <a:t>customers are mostly assigned to the right cluster, not ambiguously between two.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3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9 </a:t>
            </a:r>
            <a:r>
              <a:rPr lang="en-US" sz="2500" b="1" dirty="0" smtClean="0">
                <a:solidFill>
                  <a:srgbClr val="1F3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 </a:t>
            </a:r>
            <a:r>
              <a:rPr lang="en-US" sz="2500" b="1" dirty="0">
                <a:solidFill>
                  <a:srgbClr val="1F3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Cluster Visualization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01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</a:rPr>
              <a:t>Scatter plots on real RFM features, plus a PCA projection for an at-a-glance view</a:t>
            </a:r>
            <a:endParaRPr lang="en-US" sz="1300" dirty="0"/>
          </a:p>
        </p:txBody>
      </p:sp>
      <p:pic>
        <p:nvPicPr>
          <p:cNvPr id="4" name="Image 0" descr="/home/claude/work2/outputs/05_cluster_scatterplo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0"/>
            <a:ext cx="11247120" cy="35661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50749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280"/>
                </a:solidFill>
              </a:rPr>
              <a:t>Clusters are visibly well-separated on both feature-pair </a:t>
            </a:r>
            <a:r>
              <a:rPr lang="en-US" sz="1250" i="1" dirty="0" smtClean="0">
                <a:solidFill>
                  <a:srgbClr val="6B7280"/>
                </a:solidFill>
              </a:rPr>
              <a:t>views </a:t>
            </a:r>
            <a:r>
              <a:rPr lang="en-US" sz="1250" i="1" dirty="0">
                <a:solidFill>
                  <a:srgbClr val="6B7280"/>
                </a:solidFill>
              </a:rPr>
              <a:t>not an artefact of the algorithm forcing arbitrary splits.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3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PCA Projection of the 5 Clusters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01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</a:rPr>
              <a:t>2 principal components capture 98.4% of total variance in the scaled RFM features</a:t>
            </a:r>
            <a:endParaRPr lang="en-US" sz="1300" dirty="0"/>
          </a:p>
        </p:txBody>
      </p:sp>
      <p:pic>
        <p:nvPicPr>
          <p:cNvPr id="4" name="Image 0" descr="/home/claude/work2/outputs/06_pca_clust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0" y="137160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3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10 </a:t>
            </a:r>
            <a:r>
              <a:rPr lang="en-US" sz="2500" b="1" dirty="0" smtClean="0">
                <a:solidFill>
                  <a:srgbClr val="1F3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 </a:t>
            </a:r>
            <a:r>
              <a:rPr lang="en-US" sz="2500" b="1" dirty="0">
                <a:solidFill>
                  <a:srgbClr val="1F3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Statistical Validation (ANOVA)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01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</a:rPr>
              <a:t>Do R, F, and M genuinely differ across the 5 clusters, or could this be chance?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713232"/>
          </a:xfrm>
          <a:prstGeom prst="rect">
            <a:avLst/>
          </a:prstGeom>
          <a:solidFill>
            <a:srgbClr val="1F3B4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828800"/>
            <a:ext cx="2926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Metric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931920" y="1828800"/>
            <a:ext cx="2194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F-statistic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309360" y="1828800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p-value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503920" y="1828800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Verdict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542032"/>
            <a:ext cx="2926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</a:rPr>
              <a:t>Recency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931920" y="2542032"/>
            <a:ext cx="2194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</a:rPr>
              <a:t>2,472.30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2542032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</a:rPr>
              <a:t>&lt; 0.001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503920" y="2542032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</a:rPr>
              <a:t>Significant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255264"/>
            <a:ext cx="10881360" cy="713232"/>
          </a:xfrm>
          <a:prstGeom prst="rect">
            <a:avLst/>
          </a:prstGeom>
          <a:solidFill>
            <a:srgbClr val="F4F7F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3255264"/>
            <a:ext cx="2926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</a:rPr>
              <a:t>Frequency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931920" y="3255264"/>
            <a:ext cx="2194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</a:rPr>
              <a:t>1,414.41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309360" y="3255264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</a:rPr>
              <a:t>&lt; 0.001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503920" y="3255264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</a:rPr>
              <a:t>Significant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3968496"/>
            <a:ext cx="2926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</a:rPr>
              <a:t>Monetary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3931920" y="3968496"/>
            <a:ext cx="2194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</a:rPr>
              <a:t>1,005.67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309360" y="3968496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</a:rPr>
              <a:t>&lt; 0.001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503920" y="3968496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</a:rPr>
              <a:t>Significant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495604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</a:rPr>
              <a:t>Interpretation: all three RFM metrics differ significantly across clusters (p &lt; 0.001 each) </a:t>
            </a:r>
            <a:r>
              <a:rPr lang="en-US" sz="1300" i="1" dirty="0" smtClean="0">
                <a:solidFill>
                  <a:srgbClr val="6B7280"/>
                </a:solidFill>
              </a:rPr>
              <a:t>the </a:t>
            </a:r>
            <a:r>
              <a:rPr lang="en-US" sz="1300" i="1" dirty="0">
                <a:solidFill>
                  <a:srgbClr val="6B7280"/>
                </a:solidFill>
              </a:rPr>
              <a:t>segmentation reflects real, distinct customer behaviour, not random noise.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3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11 </a:t>
            </a:r>
            <a:r>
              <a:rPr lang="en-US" sz="2500" b="1" dirty="0" smtClean="0">
                <a:solidFill>
                  <a:srgbClr val="1F3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 </a:t>
            </a:r>
            <a:r>
              <a:rPr lang="en-US" sz="2500" b="1" dirty="0">
                <a:solidFill>
                  <a:srgbClr val="1F3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Final Segments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01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</a:rPr>
              <a:t>Names assigned programmatically by ranking each cluster's composite RFM score</a:t>
            </a:r>
            <a:endParaRPr lang="en-US" sz="1300" dirty="0"/>
          </a:p>
        </p:txBody>
      </p:sp>
      <p:pic>
        <p:nvPicPr>
          <p:cNvPr id="4" name="Image 0" descr="/home/claude/work2/outputs/07_cluster_siz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0"/>
            <a:ext cx="5486400" cy="4480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299563" y="1463040"/>
            <a:ext cx="5892437" cy="566928"/>
          </a:xfrm>
          <a:prstGeom prst="rect">
            <a:avLst/>
          </a:prstGeom>
          <a:solidFill>
            <a:srgbClr val="1F3B4D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462032" y="1463040"/>
            <a:ext cx="170552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Segment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8275320" y="1463040"/>
            <a:ext cx="91440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Recency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9418320" y="1463040"/>
            <a:ext cx="82296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Freq.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10159637" y="1463040"/>
            <a:ext cx="128016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Monetary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11186160" y="1520190"/>
            <a:ext cx="100584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% Base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6385560" y="2016579"/>
            <a:ext cx="2001883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</a:rPr>
              <a:t>Champions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8316142" y="2029968"/>
            <a:ext cx="91440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</a:rPr>
              <a:t>~18d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9418320" y="2029968"/>
            <a:ext cx="82296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</a:rPr>
              <a:t>~28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10241280" y="2029968"/>
            <a:ext cx="128016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</a:rPr>
              <a:t>~Rs.170.6K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11272157" y="2029968"/>
            <a:ext cx="100584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</a:rPr>
              <a:t>13.8%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381206" y="2596896"/>
            <a:ext cx="5810794" cy="566928"/>
          </a:xfrm>
          <a:prstGeom prst="rect">
            <a:avLst/>
          </a:prstGeom>
          <a:solidFill>
            <a:srgbClr val="F4F7F7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413046" y="2578608"/>
            <a:ext cx="2001883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</a:rPr>
              <a:t>Loyal Customers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8337368" y="2596896"/>
            <a:ext cx="91440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</a:rPr>
              <a:t>~35d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9418320" y="2596896"/>
            <a:ext cx="82296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</a:rPr>
              <a:t>~14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10241280" y="2596896"/>
            <a:ext cx="128016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</a:rPr>
              <a:t>~Rs.48.5K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1132713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</a:rPr>
              <a:t>23.7%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6388826" y="3155007"/>
            <a:ext cx="200188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</a:rPr>
              <a:t>Potential Loyalists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8332469" y="3163824"/>
            <a:ext cx="91440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</a:rPr>
              <a:t>~54d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9418320" y="3163824"/>
            <a:ext cx="82296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</a:rPr>
              <a:t>~8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10241280" y="3163824"/>
            <a:ext cx="128016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</a:rPr>
              <a:t>~Rs.17.8K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11338560" y="3163824"/>
            <a:ext cx="100584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</a:rPr>
              <a:t>23.5%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6299563" y="3730752"/>
            <a:ext cx="5892437" cy="566928"/>
          </a:xfrm>
          <a:prstGeom prst="rect">
            <a:avLst/>
          </a:prstGeom>
          <a:solidFill>
            <a:srgbClr val="F4F7F7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6388826" y="3740549"/>
            <a:ext cx="1799409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</a:rPr>
              <a:t>At Risk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8327570" y="3730752"/>
            <a:ext cx="91440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</a:rPr>
              <a:t>~240d</a:t>
            </a:r>
            <a:endParaRPr 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9418320" y="3730752"/>
            <a:ext cx="82296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</a:rPr>
              <a:t>~7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10241280" y="3730752"/>
            <a:ext cx="128016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</a:rPr>
              <a:t>~Rs.20.2K</a:t>
            </a:r>
            <a:endParaRPr lang="en-US" sz="1050" dirty="0"/>
          </a:p>
        </p:txBody>
      </p:sp>
      <p:sp>
        <p:nvSpPr>
          <p:cNvPr id="32" name="Text 29"/>
          <p:cNvSpPr txBox="1"/>
          <p:nvPr/>
        </p:nvSpPr>
        <p:spPr>
          <a:xfrm>
            <a:off x="11349990" y="3730752"/>
            <a:ext cx="100584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</a:rPr>
              <a:t>18.3%</a:t>
            </a:r>
            <a:endParaRPr lang="en-US" sz="1050" dirty="0"/>
          </a:p>
        </p:txBody>
      </p:sp>
      <p:sp>
        <p:nvSpPr>
          <p:cNvPr id="33" name="Text 30"/>
          <p:cNvSpPr txBox="1"/>
          <p:nvPr/>
        </p:nvSpPr>
        <p:spPr>
          <a:xfrm>
            <a:off x="6388826" y="4317274"/>
            <a:ext cx="1799409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</a:rPr>
              <a:t>Hibernating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8322671" y="4297680"/>
            <a:ext cx="91440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</a:rPr>
              <a:t>~283d</a:t>
            </a:r>
            <a:endParaRPr lang="en-US" sz="1050" dirty="0"/>
          </a:p>
        </p:txBody>
      </p:sp>
      <p:sp>
        <p:nvSpPr>
          <p:cNvPr id="35" name="Text 32"/>
          <p:cNvSpPr txBox="1"/>
          <p:nvPr/>
        </p:nvSpPr>
        <p:spPr>
          <a:xfrm>
            <a:off x="9418320" y="4297680"/>
            <a:ext cx="82296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</a:rPr>
              <a:t>~3</a:t>
            </a:r>
            <a:endParaRPr lang="en-US" sz="1050" dirty="0"/>
          </a:p>
        </p:txBody>
      </p:sp>
      <p:sp>
        <p:nvSpPr>
          <p:cNvPr id="36" name="Text 33"/>
          <p:cNvSpPr txBox="1"/>
          <p:nvPr/>
        </p:nvSpPr>
        <p:spPr>
          <a:xfrm>
            <a:off x="10241280" y="4297680"/>
            <a:ext cx="128016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</a:rPr>
              <a:t>~Rs.3.3K</a:t>
            </a:r>
            <a:endParaRPr lang="en-US" sz="1050" dirty="0"/>
          </a:p>
        </p:txBody>
      </p:sp>
      <p:sp>
        <p:nvSpPr>
          <p:cNvPr id="37" name="Text 34"/>
          <p:cNvSpPr txBox="1"/>
          <p:nvPr/>
        </p:nvSpPr>
        <p:spPr>
          <a:xfrm>
            <a:off x="11402241" y="4297680"/>
            <a:ext cx="100584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</a:rPr>
              <a:t>20.7%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3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Marketing Action per Segment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10881360" cy="841248"/>
          </a:xfrm>
          <a:prstGeom prst="roundRect">
            <a:avLst>
              <a:gd name="adj" fmla="val 5435"/>
            </a:avLst>
          </a:prstGeom>
          <a:solidFill>
            <a:srgbClr val="F4F7F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600200"/>
            <a:ext cx="23774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6F78"/>
                </a:solidFill>
              </a:rPr>
              <a:t>Champions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3383280" y="1600200"/>
            <a:ext cx="79552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</a:rPr>
              <a:t>Reward with loyalty perks &amp; early access; ask for reviews/referrals. Protect, don't over-discount.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10881360" cy="841248"/>
          </a:xfrm>
          <a:prstGeom prst="roundRect">
            <a:avLst>
              <a:gd name="adj" fmla="val 5435"/>
            </a:avLst>
          </a:prstGeom>
          <a:solidFill>
            <a:srgbClr val="F4F7F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560320"/>
            <a:ext cx="23774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6F78"/>
                </a:solidFill>
              </a:rPr>
              <a:t>Loyal Customers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2560320"/>
            <a:ext cx="79552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</a:rPr>
              <a:t>Upsell/cross-sell; push toward Champion tier via a loyalty program.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520440"/>
            <a:ext cx="10881360" cy="841248"/>
          </a:xfrm>
          <a:prstGeom prst="roundRect">
            <a:avLst>
              <a:gd name="adj" fmla="val 5435"/>
            </a:avLst>
          </a:prstGeom>
          <a:solidFill>
            <a:srgbClr val="F4F7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3520440"/>
            <a:ext cx="23774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6F78"/>
                </a:solidFill>
              </a:rPr>
              <a:t>Potential Loyalists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3520440"/>
            <a:ext cx="79552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</a:rPr>
              <a:t>Personalised recommendations + limited-time offers to build a purchase habit.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4480560"/>
            <a:ext cx="10881360" cy="841248"/>
          </a:xfrm>
          <a:prstGeom prst="roundRect">
            <a:avLst>
              <a:gd name="adj" fmla="val 5435"/>
            </a:avLst>
          </a:prstGeom>
          <a:solidFill>
            <a:srgbClr val="F4F7F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68680" y="4480560"/>
            <a:ext cx="23774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6F78"/>
                </a:solidFill>
              </a:rPr>
              <a:t>At Risk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3383280" y="4480560"/>
            <a:ext cx="79552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</a:rPr>
              <a:t>Win-back email campaigns &amp; targeted discounts before they fully churn.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5440680"/>
            <a:ext cx="10881360" cy="841248"/>
          </a:xfrm>
          <a:prstGeom prst="roundRect">
            <a:avLst>
              <a:gd name="adj" fmla="val 5435"/>
            </a:avLst>
          </a:prstGeom>
          <a:solidFill>
            <a:srgbClr val="F4F7F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5440680"/>
            <a:ext cx="23774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6F78"/>
                </a:solidFill>
              </a:rPr>
              <a:t>Hibernating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3383280" y="5440680"/>
            <a:ext cx="79552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</a:rPr>
              <a:t>Low-cost reactivation only </a:t>
            </a:r>
            <a:r>
              <a:rPr lang="en-US" sz="1200" dirty="0" smtClean="0">
                <a:solidFill>
                  <a:srgbClr val="222222"/>
                </a:solidFill>
              </a:rPr>
              <a:t>don't </a:t>
            </a:r>
            <a:r>
              <a:rPr lang="en-US" sz="1200" dirty="0">
                <a:solidFill>
                  <a:srgbClr val="222222"/>
                </a:solidFill>
              </a:rPr>
              <a:t>over-invest in a segment unlikely to return.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F3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5204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FD8DA"/>
                </a:solidFill>
              </a:rPr>
              <a:t>Full notebook, dataset, and charts on GitHub </a:t>
            </a:r>
            <a:r>
              <a:rPr lang="en-US" sz="1500" dirty="0" smtClean="0">
                <a:solidFill>
                  <a:srgbClr val="BFD8DA"/>
                </a:solidFill>
              </a:rPr>
              <a:t>- </a:t>
            </a:r>
            <a:r>
              <a:rPr lang="en-US" sz="1500" dirty="0">
                <a:solidFill>
                  <a:srgbClr val="BFD8DA"/>
                </a:solidFill>
              </a:rPr>
              <a:t>OIBSIP-Data-Analytics/Customer-Segmentation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8BB"/>
                </a:solidFill>
              </a:rPr>
              <a:t>#oasisinfobyte  #dataanalytics  #internship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801</Words>
  <Application>Microsoft Office PowerPoint</Application>
  <PresentationFormat>Widescreen</PresentationFormat>
  <Paragraphs>122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User</cp:lastModifiedBy>
  <cp:revision>3</cp:revision>
  <dcterms:created xsi:type="dcterms:W3CDTF">2026-09-04T08:58:22Z</dcterms:created>
  <dcterms:modified xsi:type="dcterms:W3CDTF">2026-09-04T09:33:27Z</dcterms:modified>
</cp:coreProperties>
</file>