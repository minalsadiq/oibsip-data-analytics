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19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5239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Data Analysis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Retail Sales Data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918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BFD8DA"/>
                </a:solidFill>
              </a:rPr>
              <a:t>OASIS INFOBYTE </a:t>
            </a:r>
            <a:r>
              <a:rPr lang="en-US" sz="1700" dirty="0" smtClean="0">
                <a:solidFill>
                  <a:srgbClr val="BFD8DA"/>
                </a:solidFill>
              </a:rPr>
              <a:t>- </a:t>
            </a:r>
            <a:r>
              <a:rPr lang="en-US" sz="1700" dirty="0">
                <a:solidFill>
                  <a:srgbClr val="BFD8DA"/>
                </a:solidFill>
              </a:rPr>
              <a:t>Data Analytics Internship  |  Level 1, Task 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862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FB8BB"/>
                </a:solidFill>
              </a:rPr>
              <a:t>A statistically-tested EDA: distribution testing, normalization, hypothesis testing,</a:t>
            </a:r>
            <a:endParaRPr lang="en-US" sz="1350" dirty="0"/>
          </a:p>
          <a:p>
            <a:pPr marL="0" indent="0">
              <a:buNone/>
            </a:pPr>
            <a:r>
              <a:rPr lang="en-US" sz="1350" i="1" dirty="0">
                <a:solidFill>
                  <a:srgbClr val="9FB8BB"/>
                </a:solidFill>
              </a:rPr>
              <a:t>and multicollinearity checks </a:t>
            </a:r>
            <a:r>
              <a:rPr lang="en-US" sz="1350" i="1" dirty="0" smtClean="0">
                <a:solidFill>
                  <a:srgbClr val="9FB8BB"/>
                </a:solidFill>
              </a:rPr>
              <a:t>not </a:t>
            </a:r>
            <a:r>
              <a:rPr lang="en-US" sz="1350" i="1" dirty="0">
                <a:solidFill>
                  <a:srgbClr val="9FB8BB"/>
                </a:solidFill>
              </a:rPr>
              <a:t>just descriptive charts.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8BB"/>
                </a:solidFill>
              </a:rPr>
              <a:t>Prepared by: </a:t>
            </a:r>
            <a:r>
              <a:rPr lang="en-US" sz="1200" dirty="0" err="1" smtClean="0">
                <a:solidFill>
                  <a:srgbClr val="9FB8BB"/>
                </a:solidFill>
              </a:rPr>
              <a:t>Minal</a:t>
            </a:r>
            <a:r>
              <a:rPr lang="en-US" sz="1200" dirty="0" smtClean="0">
                <a:solidFill>
                  <a:srgbClr val="9FB8BB"/>
                </a:solidFill>
              </a:rPr>
              <a:t> </a:t>
            </a:r>
            <a:r>
              <a:rPr lang="en-US" sz="1200" dirty="0" err="1" smtClean="0">
                <a:solidFill>
                  <a:srgbClr val="9FB8BB"/>
                </a:solidFill>
              </a:rPr>
              <a:t>Sadiq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Objective, Dataset &amp; Approach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4F7F7"/>
          </a:solidFill>
          <a:ln w="12700">
            <a:solidFill>
              <a:srgbClr val="E3E9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6F78"/>
                </a:solidFill>
              </a:rPr>
              <a:t>Objective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1645920"/>
            <a:ext cx="8366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Uncover real, evidence-backed patterns in retail sales </a:t>
            </a:r>
            <a:r>
              <a:rPr lang="en-US" sz="1250" dirty="0" smtClean="0">
                <a:solidFill>
                  <a:srgbClr val="222222"/>
                </a:solidFill>
              </a:rPr>
              <a:t>data </a:t>
            </a:r>
            <a:r>
              <a:rPr lang="en-US" sz="1250" dirty="0">
                <a:solidFill>
                  <a:srgbClr val="222222"/>
                </a:solidFill>
              </a:rPr>
              <a:t>customer behaviour, seasonality, and product </a:t>
            </a:r>
            <a:r>
              <a:rPr lang="en-US" sz="1250" dirty="0" smtClean="0">
                <a:solidFill>
                  <a:srgbClr val="222222"/>
                </a:solidFill>
              </a:rPr>
              <a:t>performance </a:t>
            </a:r>
            <a:r>
              <a:rPr lang="en-US" sz="1250" dirty="0">
                <a:solidFill>
                  <a:srgbClr val="222222"/>
                </a:solidFill>
              </a:rPr>
              <a:t>using proper statistical testing, not just charts.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761488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4F7F7"/>
          </a:solidFill>
          <a:ln w="12700">
            <a:solidFill>
              <a:srgbClr val="E3E9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852928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6F78"/>
                </a:solidFill>
              </a:rPr>
              <a:t>Dataset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2852928"/>
            <a:ext cx="8366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9,825 transactions (Jan 2022 - Dec 2024): order info, customer demographics (age, gender, region), product category, quantity, price, discount, and net revenue.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968496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4F7F7"/>
          </a:solidFill>
          <a:ln w="12700">
            <a:solidFill>
              <a:srgbClr val="E3E9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4059936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6F78"/>
                </a:solidFill>
              </a:rPr>
              <a:t>Tools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4059936"/>
            <a:ext cx="8366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Python - pandas, numpy, scipy.stats, statsmodels, scikit-learn (scalers), matplotlib, seaborn.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5175504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4F7F7"/>
          </a:solidFill>
          <a:ln w="12700">
            <a:solidFill>
              <a:srgbClr val="E3E9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5266944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6F78"/>
                </a:solidFill>
              </a:rPr>
              <a:t>Approach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5266944"/>
            <a:ext cx="8366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Clean -&gt; Describe -&gt; Test distributions -&gt; Normalize -&gt; Detect outliers -&gt; Trend analysis -&gt; Hypothesis-test group differences -&gt; Check multicollinearity -&gt; Test categorical independence -&gt; Conclude.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 </a:t>
            </a:r>
            <a:r>
              <a:rPr lang="en-US" sz="2500" b="1" dirty="0" smtClean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 </a:t>
            </a: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Cleaning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What was found in the raw data, and what was done about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566928"/>
          </a:xfrm>
          <a:prstGeom prst="rect">
            <a:avLst/>
          </a:prstGeom>
          <a:solidFill>
            <a:srgbClr val="F4F7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</a:rPr>
              <a:t>25 exact duplicate transactions found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1737360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Removed. Rows: 9,825 -&gt; 9,800.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04288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</a:rPr>
              <a:t>125 missing values in Payment_Mode (~1.3%)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2304288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Kept as an explicit "Unknown" category instead of dropping real transactions.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71216"/>
            <a:ext cx="10881360" cy="566928"/>
          </a:xfrm>
          <a:prstGeom prst="rect">
            <a:avLst/>
          </a:prstGeom>
          <a:solidFill>
            <a:srgbClr val="F4F7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871216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</a:rPr>
              <a:t>Inconsistent Gender casing ("male", "MALE", "Male")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871216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Standardised to "Male" / "Female" before any group comparison.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438144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</a:rPr>
              <a:t>No nulls in any other column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343814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Confirmed via a full null-count audit across all 14 fields.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 </a:t>
            </a:r>
            <a:r>
              <a:rPr lang="en-US" sz="2500" b="1" dirty="0" smtClean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 </a:t>
            </a: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Descriptive Statistics &amp; Skewness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Mean, median, mode, variance, std, skewness and kurtosis computed for every numeric field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621792"/>
          </a:xfrm>
          <a:prstGeom prst="rect">
            <a:avLst/>
          </a:prstGeom>
          <a:solidFill>
            <a:srgbClr val="1F3B4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691640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Metric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1691640"/>
            <a:ext cx="5486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Value / Finding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13432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Customer_Age skew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2313432"/>
            <a:ext cx="5486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0.33  -&gt;  approximately symmetric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935224"/>
            <a:ext cx="10881360" cy="621792"/>
          </a:xfrm>
          <a:prstGeom prst="rect">
            <a:avLst/>
          </a:prstGeom>
          <a:solidFill>
            <a:srgbClr val="F4F7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935224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Quantity skew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2935224"/>
            <a:ext cx="5486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1.67  -&gt;  highly right-skewed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557016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Unit_Price skew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3557016"/>
            <a:ext cx="5486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2.54  -&gt;  highly right-skewed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178808"/>
            <a:ext cx="10881360" cy="621792"/>
          </a:xfrm>
          <a:prstGeom prst="rect">
            <a:avLst/>
          </a:prstGeom>
          <a:solidFill>
            <a:srgbClr val="F4F7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178808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Discount_Percent skew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4178808"/>
            <a:ext cx="5486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1.05  -&gt;  highly right-skewed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800600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Net_Revenue skew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4800600"/>
            <a:ext cx="5486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4.47  -&gt;  extremely right-skewed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65099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</a:rPr>
              <a:t>Takeaway: because revenue and price are heavily skewed, the mean alone is a misleading "typical value</a:t>
            </a:r>
            <a:r>
              <a:rPr lang="en-US" sz="1250" i="1" dirty="0" smtClean="0">
                <a:solidFill>
                  <a:srgbClr val="6B7280"/>
                </a:solidFill>
              </a:rPr>
              <a:t>" </a:t>
            </a:r>
            <a:r>
              <a:rPr lang="en-US" sz="1250" i="1" dirty="0">
                <a:solidFill>
                  <a:srgbClr val="6B7280"/>
                </a:solidFill>
              </a:rPr>
              <a:t>median/IQR were reported alongside it throughout.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689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 </a:t>
            </a:r>
            <a:r>
              <a:rPr lang="en-US" sz="2500" b="1" dirty="0" smtClean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 </a:t>
            </a: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for Normal Distribution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Method: Shapiro-Wilk test + D'Agostino K² test (H0: the variable is normally distributed)</a:t>
            </a:r>
            <a:endParaRPr lang="en-US" sz="1300" dirty="0"/>
          </a:p>
        </p:txBody>
      </p:sp>
      <p:pic>
        <p:nvPicPr>
          <p:cNvPr id="4" name="Image 0" descr="/home/claude/work/outputs/09_qq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417320"/>
            <a:ext cx="8066314" cy="4937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920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Customer_Age: p = 1.9e-27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Quantity: p = 5.7e-70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017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Unit_Price: p = 4.4e-71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Net_Revenue: p = 1.6e-76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20624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261E"/>
                </a:solidFill>
              </a:rPr>
              <a:t>All p &lt; 0.05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B3261E"/>
                </a:solidFill>
              </a:rPr>
              <a:t>-&gt; Reject H0.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B3261E"/>
                </a:solidFill>
              </a:rPr>
              <a:t>None are normally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B3261E"/>
                </a:solidFill>
              </a:rPr>
              <a:t>distributed.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4 </a:t>
            </a:r>
            <a:r>
              <a:rPr lang="en-US" sz="2500" b="1" dirty="0" smtClean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 </a:t>
            </a: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Normalization Applied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Z-score standardisation, Min-Max normalisation, and a log-transform to correct skew</a:t>
            </a:r>
            <a:endParaRPr lang="en-US" sz="1300" dirty="0"/>
          </a:p>
        </p:txBody>
      </p:sp>
      <p:pic>
        <p:nvPicPr>
          <p:cNvPr id="4" name="Image 0" descr="/home/claude/work/outputs/10_log_transform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10881360" cy="3977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Z-score: mean -&gt; 0, std -&gt; 1  |  Min-Max: scaled to [0, 1]  |  Log(1+x) on Net_Revenue: skewness 4.47 -&gt; 0.16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5 </a:t>
            </a:r>
            <a:r>
              <a:rPr lang="en-US" sz="2500" b="1" dirty="0" smtClean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 </a:t>
            </a: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Outlier Detection (IQR Method)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Values beyond Q1 - 1.5xIQR or Q3 + 1.5xIQR flagged for Unit_Price, Net_Revenue and Quantity</a:t>
            </a:r>
            <a:endParaRPr lang="en-US" sz="1300" dirty="0"/>
          </a:p>
        </p:txBody>
      </p:sp>
      <p:pic>
        <p:nvPicPr>
          <p:cNvPr id="4" name="Image 0" descr="/home/claude/work/outputs/11_outlier_box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479368"/>
            <a:ext cx="9235440" cy="4297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Flagged outliers are legitimate high-value orders (furniture/electronics</a:t>
            </a:r>
            <a:r>
              <a:rPr lang="en-US" sz="1300" i="1" dirty="0" smtClean="0">
                <a:solidFill>
                  <a:srgbClr val="6B7280"/>
                </a:solidFill>
              </a:rPr>
              <a:t>) </a:t>
            </a:r>
            <a:r>
              <a:rPr lang="en-US" sz="1300" i="1" dirty="0">
                <a:solidFill>
                  <a:srgbClr val="6B7280"/>
                </a:solidFill>
              </a:rPr>
              <a:t>retained, not deleted.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6 </a:t>
            </a:r>
            <a:r>
              <a:rPr lang="en-US" sz="2500" b="1" dirty="0" smtClean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 </a:t>
            </a: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Series Analysis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Monthly revenue trend with a 3-month rolling average</a:t>
            </a:r>
            <a:endParaRPr lang="en-US" sz="1300" dirty="0"/>
          </a:p>
        </p:txBody>
      </p:sp>
      <p:pic>
        <p:nvPicPr>
          <p:cNvPr id="4" name="Image 0" descr="/home/claude/work/outputs/01_monthly_sales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11064240" cy="4480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Result: revenue spikes every Q4 (Oct-Dec) in all 3 years, with a smaller Jun-Jul lift; Q1 is consistently weakest.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7 </a:t>
            </a:r>
            <a:r>
              <a:rPr lang="en-US" sz="2500" b="1" dirty="0" smtClean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 </a:t>
            </a: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Demographics &amp; Hypothesis Testing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Does gender or age group actually affect average order value?</a:t>
            </a:r>
            <a:endParaRPr lang="en-US" sz="1300" dirty="0"/>
          </a:p>
        </p:txBody>
      </p:sp>
      <p:pic>
        <p:nvPicPr>
          <p:cNvPr id="4" name="Image 0" descr="/home/claude/work/outputs/03_customer_demograph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75" y="2089404"/>
            <a:ext cx="7573754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69468" y="1417320"/>
            <a:ext cx="3597691" cy="1051560"/>
          </a:xfrm>
          <a:prstGeom prst="roundRect">
            <a:avLst>
              <a:gd name="adj" fmla="val 5217"/>
            </a:avLst>
          </a:prstGeom>
          <a:solidFill>
            <a:srgbClr val="F4F7F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95592" y="1490472"/>
            <a:ext cx="338012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</a:rPr>
              <a:t>Levene's Test (Male vs Female)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8095592" y="1947672"/>
            <a:ext cx="3380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p = 0.558 -&gt; variances equal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969468" y="2587752"/>
            <a:ext cx="3597692" cy="1051560"/>
          </a:xfrm>
          <a:prstGeom prst="roundRect">
            <a:avLst>
              <a:gd name="adj" fmla="val 5217"/>
            </a:avLst>
          </a:prstGeom>
          <a:solidFill>
            <a:srgbClr val="F4F7F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095592" y="2660904"/>
            <a:ext cx="3380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</a:rPr>
              <a:t>t-test: mean revenue, Male vs Female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150772" y="3118104"/>
            <a:ext cx="33249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p = 0.701 -&gt; NOT significant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969468" y="3758184"/>
            <a:ext cx="3597692" cy="1051560"/>
          </a:xfrm>
          <a:prstGeom prst="roundRect">
            <a:avLst>
              <a:gd name="adj" fmla="val 5217"/>
            </a:avLst>
          </a:prstGeom>
          <a:solidFill>
            <a:srgbClr val="F4F7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95592" y="3831336"/>
            <a:ext cx="3380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</a:rPr>
              <a:t>Levene's Test (across age groups)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8095592" y="4288536"/>
            <a:ext cx="3380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p = 0.632 -&gt; variances equal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969468" y="4928616"/>
            <a:ext cx="3597692" cy="1051560"/>
          </a:xfrm>
          <a:prstGeom prst="roundRect">
            <a:avLst>
              <a:gd name="adj" fmla="val 5217"/>
            </a:avLst>
          </a:prstGeom>
          <a:solidFill>
            <a:srgbClr val="F4F7F7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095592" y="5001768"/>
            <a:ext cx="3380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</a:rPr>
              <a:t>ANOVA: mean revenue across age groups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095592" y="5458968"/>
            <a:ext cx="3380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p = 0.365 -&gt; NOT significant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Conclusion: neither gender nor age group is a statistically valid targeting variable for order value in this data.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8 </a:t>
            </a:r>
            <a:r>
              <a:rPr lang="en-US" sz="2500" b="1" dirty="0" smtClean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 </a:t>
            </a: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Category &amp; ANOVA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Does average order value genuinely differ across product categories?</a:t>
            </a:r>
            <a:endParaRPr lang="en-US" sz="1300" dirty="0"/>
          </a:p>
        </p:txBody>
      </p:sp>
      <p:pic>
        <p:nvPicPr>
          <p:cNvPr id="4" name="Image 0" descr="/home/claude/work/outputs/05_category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255" y="1417320"/>
            <a:ext cx="6572641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9577" y="2103120"/>
            <a:ext cx="4661863" cy="2377440"/>
          </a:xfrm>
          <a:prstGeom prst="roundRect">
            <a:avLst>
              <a:gd name="adj" fmla="val 3077"/>
            </a:avLst>
          </a:prstGeom>
          <a:solidFill>
            <a:srgbClr val="F4F7F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41778" y="2331720"/>
            <a:ext cx="419678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6F78"/>
                </a:solidFill>
              </a:rPr>
              <a:t>One-Way ANOVA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141778" y="2676985"/>
            <a:ext cx="419678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</a:rPr>
              <a:t>F = 2025.2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</a:rPr>
              <a:t>p &lt; 0.001 (~0)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141778" y="3466838"/>
            <a:ext cx="419678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Reject </a:t>
            </a:r>
            <a:r>
              <a:rPr lang="en-US" sz="1200" dirty="0" smtClean="0">
                <a:solidFill>
                  <a:srgbClr val="222222"/>
                </a:solidFill>
              </a:rPr>
              <a:t>H0 </a:t>
            </a:r>
            <a:r>
              <a:rPr lang="en-US" sz="1200" dirty="0">
                <a:solidFill>
                  <a:srgbClr val="222222"/>
                </a:solidFill>
              </a:rPr>
              <a:t>categories differ significantly in average order value. Furniture &amp; Electronics genuinely command higher order values, not just higher volume.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9 </a:t>
            </a:r>
            <a:r>
              <a:rPr lang="en-US" sz="2500" b="1" dirty="0" smtClean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 </a:t>
            </a: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Correlation &amp; Multicollinearity (VIF)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Are the transaction-level predictors redundant with each other?</a:t>
            </a:r>
            <a:endParaRPr lang="en-US" sz="1300" dirty="0"/>
          </a:p>
        </p:txBody>
      </p:sp>
      <p:pic>
        <p:nvPicPr>
          <p:cNvPr id="4" name="Image 0" descr="/home/claude/work/outputs/06_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539496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1737360"/>
            <a:ext cx="4754880" cy="566928"/>
          </a:xfrm>
          <a:prstGeom prst="rect">
            <a:avLst/>
          </a:prstGeom>
          <a:solidFill>
            <a:srgbClr val="1F3B4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537960" y="173736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Feature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173736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VIF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537960" y="230428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Customer_Age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778240" y="230428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7D32"/>
                </a:solidFill>
              </a:rPr>
              <a:t>1.00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0" y="2871216"/>
            <a:ext cx="4754880" cy="566928"/>
          </a:xfrm>
          <a:prstGeom prst="rect">
            <a:avLst/>
          </a:prstGeom>
          <a:solidFill>
            <a:srgbClr val="F4F7F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37960" y="287121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Quantity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778240" y="287121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7D32"/>
                </a:solidFill>
              </a:rPr>
              <a:t>1.00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537960" y="343814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Unit_Price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778240" y="343814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7D32"/>
                </a:solidFill>
              </a:rPr>
              <a:t>1.00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0" y="4005072"/>
            <a:ext cx="4754880" cy="566928"/>
          </a:xfrm>
          <a:prstGeom prst="rect">
            <a:avLst/>
          </a:prstGeom>
          <a:solidFill>
            <a:srgbClr val="F4F7F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537960" y="4005072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Discount_Percent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778240" y="4005072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7D32"/>
                </a:solidFill>
              </a:rPr>
              <a:t>1.00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0" y="484632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Rule of thumb: VIF &gt; 5 = concern, VIF &gt; 10 = severe. All features scored ~1.0 -&gt; no multicollinearity; safe to use together in any future model.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10 </a:t>
            </a:r>
            <a:r>
              <a:rPr lang="en-US" sz="2500" b="1" dirty="0" smtClean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 </a:t>
            </a: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Independence Testing (Chi-Square)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Are pairs of categorical fields actually related, or independent?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777240"/>
          </a:xfrm>
          <a:prstGeom prst="rect">
            <a:avLst/>
          </a:prstGeom>
          <a:solidFill>
            <a:srgbClr val="1F3B4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3657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Pair Tested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1737360"/>
            <a:ext cx="37490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Chi² / p-value / Cramer's V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1737360"/>
            <a:ext cx="31089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Result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14600"/>
            <a:ext cx="3657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Gender vs Product Category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514600"/>
            <a:ext cx="37490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χ²=5.36, p=0.374, V=0.023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2514600"/>
            <a:ext cx="31089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No significant association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10881360" cy="777240"/>
          </a:xfrm>
          <a:prstGeom prst="rect">
            <a:avLst/>
          </a:prstGeom>
          <a:solidFill>
            <a:srgbClr val="F4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291840"/>
            <a:ext cx="3657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Region vs Payment Mode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291840"/>
            <a:ext cx="37490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χ²=20.9, p=0.403, V=0.023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3291840"/>
            <a:ext cx="31089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No significant association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069080"/>
            <a:ext cx="3657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Customer Segment vs Category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4069080"/>
            <a:ext cx="37490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χ²=28.1, p=0.0017, V=0.038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4069080"/>
            <a:ext cx="31089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Statistically significant, but negligible effect size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120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</a:rPr>
              <a:t>Note: with ~9,800 rows even a trivial link can be "statistically significant</a:t>
            </a:r>
            <a:r>
              <a:rPr lang="en-US" sz="1250" i="1" dirty="0" smtClean="0">
                <a:solidFill>
                  <a:srgbClr val="6B7280"/>
                </a:solidFill>
              </a:rPr>
              <a:t>" </a:t>
            </a:r>
            <a:r>
              <a:rPr lang="en-US" sz="1250" i="1" dirty="0">
                <a:solidFill>
                  <a:srgbClr val="6B7280"/>
                </a:solidFill>
              </a:rPr>
              <a:t>Cramer's V (effect size) is what confirms whether it's practically meaningful. Here, none are.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11 </a:t>
            </a:r>
            <a:r>
              <a:rPr lang="en-US" sz="2500" b="1" dirty="0" smtClean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 </a:t>
            </a: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Discounting Actually Grow Revenue?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Pearson correlation + One-Way ANOVA across discount tiers</a:t>
            </a:r>
            <a:endParaRPr lang="en-US" sz="1300" dirty="0"/>
          </a:p>
        </p:txBody>
      </p:sp>
      <p:pic>
        <p:nvPicPr>
          <p:cNvPr id="4" name="Image 0" descr="/home/claude/work/outputs/07_discount_vs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94944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737360"/>
            <a:ext cx="3749040" cy="1463040"/>
          </a:xfrm>
          <a:prstGeom prst="roundRect">
            <a:avLst>
              <a:gd name="adj" fmla="val 5000"/>
            </a:avLst>
          </a:prstGeom>
          <a:solidFill>
            <a:srgbClr val="F4F7F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955280" y="18745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F78"/>
                </a:solidFill>
              </a:rPr>
              <a:t>Discount % vs Quantity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6F78"/>
                </a:solidFill>
              </a:rPr>
              <a:t>(Pearson r)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24231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</a:rPr>
              <a:t>r = 0.009, p = 0.358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</a:rPr>
              <a:t>NOT significant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0" y="3383280"/>
            <a:ext cx="3749040" cy="1463040"/>
          </a:xfrm>
          <a:prstGeom prst="roundRect">
            <a:avLst>
              <a:gd name="adj" fmla="val 5000"/>
            </a:avLst>
          </a:prstGeom>
          <a:solidFill>
            <a:srgbClr val="F4F7F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955280" y="35204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F78"/>
                </a:solidFill>
              </a:rPr>
              <a:t>Revenue across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6F78"/>
                </a:solidFill>
              </a:rPr>
              <a:t>discount tiers (ANOVA)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40690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</a:rPr>
              <a:t>F = 22.6, p &lt; 0.001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</a:rPr>
              <a:t>Significant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7607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</a:rPr>
              <a:t>Reading both together: revenue does shift across discount levels, but bigger discounts don't pull in meaningfully bigger baskets </a:t>
            </a:r>
            <a:r>
              <a:rPr lang="en-US" sz="1250" i="1" dirty="0" smtClean="0">
                <a:solidFill>
                  <a:srgbClr val="6B7280"/>
                </a:solidFill>
              </a:rPr>
              <a:t>deep </a:t>
            </a:r>
            <a:r>
              <a:rPr lang="en-US" sz="1250" i="1" dirty="0">
                <a:solidFill>
                  <a:srgbClr val="6B7280"/>
                </a:solidFill>
              </a:rPr>
              <a:t>discounting looks like a margin cost more than a volume driver.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Recommendations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Grounded directly in the statistical results above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457200" cy="457200"/>
          </a:xfrm>
          <a:prstGeom prst="line">
            <a:avLst/>
          </a:prstGeom>
          <a:solidFill>
            <a:srgbClr val="1F6F7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9164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</a:rPr>
              <a:t>Build Q4 inventory (Electronics &amp; Furniture) starting in September; use the confirmed slow Q1 for clearance, not full-price campaigns.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31520" y="3063240"/>
            <a:ext cx="457200" cy="457200"/>
          </a:xfrm>
          <a:prstGeom prst="line">
            <a:avLst/>
          </a:prstGeom>
          <a:solidFill>
            <a:srgbClr val="1F6F7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301752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</a:rPr>
              <a:t>Cap standard promotional discounts near 10</a:t>
            </a:r>
            <a:r>
              <a:rPr lang="en-US" sz="1550" dirty="0" smtClean="0">
                <a:solidFill>
                  <a:srgbClr val="222222"/>
                </a:solidFill>
              </a:rPr>
              <a:t>% </a:t>
            </a:r>
            <a:r>
              <a:rPr lang="en-US" sz="1550" dirty="0">
                <a:solidFill>
                  <a:srgbClr val="222222"/>
                </a:solidFill>
              </a:rPr>
              <a:t>ANOVA + correlation results show deeper discounts don't significantly grow basket size.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31520" y="4389120"/>
            <a:ext cx="457200" cy="457200"/>
          </a:xfrm>
          <a:prstGeom prst="line">
            <a:avLst/>
          </a:prstGeom>
          <a:solidFill>
            <a:srgbClr val="1F6F7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434340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</a:rPr>
              <a:t>Skip gender-based targeting (t-test: not significant) and instead prioritise the 26-45 age band by transaction volume for retention efforts.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3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520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FD8DA"/>
                </a:solidFill>
              </a:rPr>
              <a:t>Full notebook, dataset, and charts on GitHub </a:t>
            </a:r>
            <a:r>
              <a:rPr lang="en-US" sz="1500" dirty="0" smtClean="0">
                <a:solidFill>
                  <a:srgbClr val="BFD8DA"/>
                </a:solidFill>
              </a:rPr>
              <a:t>- OIBSIP-Data-Analytics/Retail-Sales-EDA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8BB"/>
                </a:solidFill>
              </a:rPr>
              <a:t>#oasisinfobyte  #dataanalytics  #internship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1027</Words>
  <Application>Microsoft Office PowerPoint</Application>
  <PresentationFormat>Widescreen</PresentationFormat>
  <Paragraphs>141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3</cp:revision>
  <dcterms:created xsi:type="dcterms:W3CDTF">2026-09-03T11:45:57Z</dcterms:created>
  <dcterms:modified xsi:type="dcterms:W3CDTF">2026-09-04T08:47:03Z</dcterms:modified>
</cp:coreProperties>
</file>